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82"/>
    <a:srgbClr val="F9401B"/>
    <a:srgbClr val="FF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02A1-0460-F176-D171-7861D472F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331A7-5B6D-8F79-F67B-C286B6804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55EE-38AE-3C2A-18C8-1164F211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D4833-E4EA-8AB1-712A-EA467E0D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DFCF-C009-CEE6-C833-6ACD1CE6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0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A767-6E72-748F-CAE8-20C2CF52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F3159-28E3-5E27-74E3-89AC688F3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DF8A-3B6D-24CC-31DC-4CB97DF2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9069A-C4D7-E839-C9B0-9B014F82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2758-5AD0-361E-6E0A-2F70E14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0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F92F-96A2-0116-2BEF-A3A18F01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07902-93F7-45F6-B810-64270CEB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3FEF3-B0C8-DCB4-D712-32F07687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5D68-FEDD-CB6A-48E6-BA5842DC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91C20-4D8D-751A-94CD-3BE15B48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7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FACD-D5BA-3998-9F87-76D5045B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5967-F26A-CC8A-49E1-A7A024FB6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D58C1-FBEA-C646-6E2E-3BBA887B4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38065-B97D-020C-AE49-72E79FD1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413C-3626-3537-F634-A39B3BC6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DF074-F902-9244-F150-09EEE6FF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40C0-12A6-84ED-79E6-BAC580E4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8E21E-B87F-9C0C-C7D7-50D28F83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986F7-2C7F-65EE-3B48-ADAB3A376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15A55-FD7E-6845-02A4-BD72D929C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5EE40-C0E9-604D-8793-7683E97F6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93F44-8340-0C87-712B-2B32A8EA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5892D-8968-C531-4649-00E56A63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7CE64-A826-ED88-01E1-1319324A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3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74B0-E233-A2A3-E74E-B58A9FF2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16F31-D378-7264-FF99-95ED4DEA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9FB56-61FD-DD7A-57CE-27F6A85A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9474-1D34-8947-379D-0EFDF19E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0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601A-3B76-7EF7-90A5-2EEE78F6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E070D-EC80-CC51-43E8-003D8BD4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B3BC9-677C-456A-8A3A-D6807C3A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9E3E-75C0-4B89-5825-63998F75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258D3-46AC-52EF-F2EC-78AB3EED1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EE1F8-2E9B-9B7C-DDD9-77C5C03B7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EAB3D-4FFC-AD73-B3E5-CA48FDA6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3D3E1-6EEC-5702-F2BB-7B2FB3EF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09AE8-9E38-AC32-C9AC-3D3022E4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7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BF57-38BE-4430-A502-C1E28F4E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D1255-AC96-05BC-2800-01777C798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F726F-14A9-47D6-E1D6-D78043E78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EF0A9-C2C6-A078-2F0F-48B8FC4E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8FCB5-6091-FFE9-5483-C89585B3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93508-629B-26FA-9284-5ED96E4A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8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1B32-1627-7961-E4B7-C0611098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50736-B33A-B445-BE83-950030F4C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42F8-F89B-F46F-152E-EF3258EF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53A95-AA0B-977B-C818-346B6458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11C37-D63C-47C9-2ACB-E3E1DFD8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7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44F7F-BDEE-EA12-BA3F-FBCB5D17B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E98DE-9023-8D87-98A5-DAB1D4F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FC4AC-21CE-1148-F529-CBE5743A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4BE93-3142-EDF6-8A6D-452EBBF3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20BC5-CF5E-9AF7-4FD4-6DD6E12D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5F9A1-5F37-2659-3743-16212EE37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25895-7F51-38E9-8B8D-930B1B9C1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DEF4D-706F-F70C-7B69-C63ABD485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C2980-EC1E-461C-A183-0CABC5ECC32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5205F-C05A-377A-6396-E707E1BEC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E2551-DB9F-A382-3D5E-641213900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A249F-2986-4D61-B138-2929C7E1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4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C6CEFB5D-9EFB-147A-26D2-B38215EDC4F4}"/>
              </a:ext>
            </a:extLst>
          </p:cNvPr>
          <p:cNvSpPr/>
          <p:nvPr/>
        </p:nvSpPr>
        <p:spPr>
          <a:xfrm rot="5400000">
            <a:off x="546558" y="2693505"/>
            <a:ext cx="1426465" cy="4863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E5E6F-BBF5-35D3-F96B-47C3D5A50953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anual Operation 4">
            <a:extLst>
              <a:ext uri="{FF2B5EF4-FFF2-40B4-BE49-F238E27FC236}">
                <a16:creationId xmlns:a16="http://schemas.microsoft.com/office/drawing/2014/main" id="{7994BB67-95E8-C44B-80B7-0F827CF16A2B}"/>
              </a:ext>
            </a:extLst>
          </p:cNvPr>
          <p:cNvSpPr/>
          <p:nvPr/>
        </p:nvSpPr>
        <p:spPr>
          <a:xfrm>
            <a:off x="2753868" y="-9144"/>
            <a:ext cx="6684264" cy="7104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934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082 w 10000"/>
              <a:gd name="connsiteY2" fmla="*/ 9702 h 10000"/>
              <a:gd name="connsiteX3" fmla="*/ 934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266 w 10000"/>
              <a:gd name="connsiteY2" fmla="*/ 9319 h 10000"/>
              <a:gd name="connsiteX3" fmla="*/ 934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348 w 10000"/>
              <a:gd name="connsiteY2" fmla="*/ 9702 h 10000"/>
              <a:gd name="connsiteX3" fmla="*/ 934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09 w 10000"/>
              <a:gd name="connsiteY2" fmla="*/ 9896 h 10000"/>
              <a:gd name="connsiteX3" fmla="*/ 934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307 w 10000"/>
              <a:gd name="connsiteY2" fmla="*/ 9896 h 10000"/>
              <a:gd name="connsiteX3" fmla="*/ 934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90"/>
              <a:gd name="connsiteX1" fmla="*/ 10000 w 10000"/>
              <a:gd name="connsiteY1" fmla="*/ 0 h 10090"/>
              <a:gd name="connsiteX2" fmla="*/ 9184 w 10000"/>
              <a:gd name="connsiteY2" fmla="*/ 10090 h 10090"/>
              <a:gd name="connsiteX3" fmla="*/ 934 w 10000"/>
              <a:gd name="connsiteY3" fmla="*/ 10000 h 10090"/>
              <a:gd name="connsiteX4" fmla="*/ 0 w 10000"/>
              <a:gd name="connsiteY4" fmla="*/ 0 h 10090"/>
              <a:gd name="connsiteX0" fmla="*/ 0 w 10000"/>
              <a:gd name="connsiteY0" fmla="*/ 0 h 10090"/>
              <a:gd name="connsiteX1" fmla="*/ 10000 w 10000"/>
              <a:gd name="connsiteY1" fmla="*/ 0 h 10090"/>
              <a:gd name="connsiteX2" fmla="*/ 9123 w 10000"/>
              <a:gd name="connsiteY2" fmla="*/ 10090 h 10090"/>
              <a:gd name="connsiteX3" fmla="*/ 934 w 10000"/>
              <a:gd name="connsiteY3" fmla="*/ 10000 h 10090"/>
              <a:gd name="connsiteX4" fmla="*/ 0 w 10000"/>
              <a:gd name="connsiteY4" fmla="*/ 0 h 1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90">
                <a:moveTo>
                  <a:pt x="0" y="0"/>
                </a:moveTo>
                <a:lnTo>
                  <a:pt x="10000" y="0"/>
                </a:lnTo>
                <a:cubicBezTo>
                  <a:pt x="9755" y="3106"/>
                  <a:pt x="9368" y="6984"/>
                  <a:pt x="9123" y="10090"/>
                </a:cubicBezTo>
                <a:lnTo>
                  <a:pt x="934" y="10000"/>
                </a:lnTo>
                <a:cubicBezTo>
                  <a:pt x="623" y="6667"/>
                  <a:pt x="311" y="3333"/>
                  <a:pt x="0" y="0"/>
                </a:cubicBezTo>
                <a:close/>
              </a:path>
            </a:pathLst>
          </a:custGeom>
          <a:solidFill>
            <a:srgbClr val="F940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049B5F-016C-35B2-801D-C2D2ECE64CEC}"/>
              </a:ext>
            </a:extLst>
          </p:cNvPr>
          <p:cNvSpPr/>
          <p:nvPr/>
        </p:nvSpPr>
        <p:spPr>
          <a:xfrm>
            <a:off x="146053" y="955342"/>
            <a:ext cx="1069848" cy="1143000"/>
          </a:xfrm>
          <a:prstGeom prst="roundRect">
            <a:avLst/>
          </a:prstGeom>
          <a:solidFill>
            <a:srgbClr val="00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5183F0-E751-1F8E-15E2-014B18B8854F}"/>
              </a:ext>
            </a:extLst>
          </p:cNvPr>
          <p:cNvSpPr/>
          <p:nvPr/>
        </p:nvSpPr>
        <p:spPr>
          <a:xfrm>
            <a:off x="150602" y="2223447"/>
            <a:ext cx="1069848" cy="14264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BBC369-78F5-DA8D-953E-0EAD059586A9}"/>
              </a:ext>
            </a:extLst>
          </p:cNvPr>
          <p:cNvSpPr/>
          <p:nvPr/>
        </p:nvSpPr>
        <p:spPr>
          <a:xfrm>
            <a:off x="141504" y="3788391"/>
            <a:ext cx="1069848" cy="14264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EF96C7-AD84-4B69-2D0D-596F96C71CB0}"/>
              </a:ext>
            </a:extLst>
          </p:cNvPr>
          <p:cNvSpPr/>
          <p:nvPr/>
        </p:nvSpPr>
        <p:spPr>
          <a:xfrm>
            <a:off x="155152" y="5353334"/>
            <a:ext cx="1069848" cy="14264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5FC36A-1E4C-ED62-E0C7-6ACFADA8F882}"/>
              </a:ext>
            </a:extLst>
          </p:cNvPr>
          <p:cNvSpPr/>
          <p:nvPr/>
        </p:nvSpPr>
        <p:spPr>
          <a:xfrm>
            <a:off x="1602134" y="955342"/>
            <a:ext cx="1490472" cy="1252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140552-44F3-72D2-5D8F-AD161781FE0A}"/>
              </a:ext>
            </a:extLst>
          </p:cNvPr>
          <p:cNvSpPr/>
          <p:nvPr/>
        </p:nvSpPr>
        <p:spPr>
          <a:xfrm>
            <a:off x="3188142" y="979727"/>
            <a:ext cx="3995928" cy="2542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AA82EA-93BC-3F8E-95B9-C2685C91F8B5}"/>
              </a:ext>
            </a:extLst>
          </p:cNvPr>
          <p:cNvSpPr/>
          <p:nvPr/>
        </p:nvSpPr>
        <p:spPr>
          <a:xfrm>
            <a:off x="1602134" y="3788391"/>
            <a:ext cx="2148840" cy="1426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BE09F8-52A8-B958-3FA9-75600D336F8E}"/>
              </a:ext>
            </a:extLst>
          </p:cNvPr>
          <p:cNvSpPr/>
          <p:nvPr/>
        </p:nvSpPr>
        <p:spPr>
          <a:xfrm>
            <a:off x="1602134" y="2282679"/>
            <a:ext cx="1490472" cy="1252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B6D08A-7641-0160-5BFE-0ED549551826}"/>
              </a:ext>
            </a:extLst>
          </p:cNvPr>
          <p:cNvSpPr/>
          <p:nvPr/>
        </p:nvSpPr>
        <p:spPr>
          <a:xfrm>
            <a:off x="1602134" y="5295180"/>
            <a:ext cx="2148840" cy="1426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77887C-3CE1-7B1E-6A07-3502B6A45732}"/>
              </a:ext>
            </a:extLst>
          </p:cNvPr>
          <p:cNvSpPr/>
          <p:nvPr/>
        </p:nvSpPr>
        <p:spPr>
          <a:xfrm>
            <a:off x="3998794" y="3788390"/>
            <a:ext cx="3185276" cy="29332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B92D6F-876A-14EA-298D-CBE479C51495}"/>
              </a:ext>
            </a:extLst>
          </p:cNvPr>
          <p:cNvSpPr/>
          <p:nvPr/>
        </p:nvSpPr>
        <p:spPr>
          <a:xfrm>
            <a:off x="7431890" y="979727"/>
            <a:ext cx="4700016" cy="283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865FB8-504A-FBEE-65A2-A0DD5093121F}"/>
              </a:ext>
            </a:extLst>
          </p:cNvPr>
          <p:cNvSpPr/>
          <p:nvPr/>
        </p:nvSpPr>
        <p:spPr>
          <a:xfrm>
            <a:off x="7431890" y="4045382"/>
            <a:ext cx="4700016" cy="283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4EAE4B-76B3-3CC0-2F58-1434F3FEC8D5}"/>
              </a:ext>
            </a:extLst>
          </p:cNvPr>
          <p:cNvSpPr/>
          <p:nvPr/>
        </p:nvSpPr>
        <p:spPr>
          <a:xfrm>
            <a:off x="7431890" y="1392662"/>
            <a:ext cx="1499616" cy="2395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E09C35-295E-BA77-D45A-81FC7412A8A0}"/>
              </a:ext>
            </a:extLst>
          </p:cNvPr>
          <p:cNvSpPr/>
          <p:nvPr/>
        </p:nvSpPr>
        <p:spPr>
          <a:xfrm>
            <a:off x="9010186" y="1392662"/>
            <a:ext cx="1499616" cy="2395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D2BA3A-46FA-16D7-00BD-CE14F0B8E366}"/>
              </a:ext>
            </a:extLst>
          </p:cNvPr>
          <p:cNvSpPr/>
          <p:nvPr/>
        </p:nvSpPr>
        <p:spPr>
          <a:xfrm>
            <a:off x="10588482" y="1392662"/>
            <a:ext cx="1499616" cy="2395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982161-F96A-1C90-B171-51DB7DAFACF8}"/>
              </a:ext>
            </a:extLst>
          </p:cNvPr>
          <p:cNvSpPr/>
          <p:nvPr/>
        </p:nvSpPr>
        <p:spPr>
          <a:xfrm>
            <a:off x="7431890" y="4449170"/>
            <a:ext cx="4656208" cy="2272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CAA8EB-5E2E-FE90-285D-DDFA29BE4C3C}"/>
              </a:ext>
            </a:extLst>
          </p:cNvPr>
          <p:cNvSpPr txBox="1"/>
          <p:nvPr/>
        </p:nvSpPr>
        <p:spPr>
          <a:xfrm>
            <a:off x="3121754" y="-39827"/>
            <a:ext cx="594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Management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54F1D6-A1D3-5276-C2EB-788054C85E6F}"/>
              </a:ext>
            </a:extLst>
          </p:cNvPr>
          <p:cNvSpPr txBox="1"/>
          <p:nvPr/>
        </p:nvSpPr>
        <p:spPr>
          <a:xfrm>
            <a:off x="-258280" y="108532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Real Estate</a:t>
            </a:r>
            <a:endParaRPr lang="en-US" sz="2800" b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DD1509-E024-585F-D26B-F854C3CAC642}"/>
              </a:ext>
            </a:extLst>
          </p:cNvPr>
          <p:cNvSpPr txBox="1"/>
          <p:nvPr/>
        </p:nvSpPr>
        <p:spPr>
          <a:xfrm>
            <a:off x="3104444" y="447198"/>
            <a:ext cx="2652889" cy="184666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/>
          <a:p>
            <a:r>
              <a:rPr lang="en-US" sz="1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values analysis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25EB3FB-E66E-3814-808B-BACA8C087AC5}"/>
              </a:ext>
            </a:extLst>
          </p:cNvPr>
          <p:cNvSpPr/>
          <p:nvPr/>
        </p:nvSpPr>
        <p:spPr>
          <a:xfrm>
            <a:off x="190373" y="234081"/>
            <a:ext cx="286005" cy="286005"/>
          </a:xfrm>
          <a:prstGeom prst="ellipse">
            <a:avLst/>
          </a:pr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 descr="City">
            <a:extLst>
              <a:ext uri="{FF2B5EF4-FFF2-40B4-BE49-F238E27FC236}">
                <a16:creationId xmlns:a16="http://schemas.microsoft.com/office/drawing/2014/main" id="{F64EBDDF-C2B7-E055-2D83-A0063D760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745" y="1061610"/>
            <a:ext cx="930464" cy="930464"/>
          </a:xfrm>
          <a:prstGeom prst="rect">
            <a:avLst/>
          </a:prstGeom>
        </p:spPr>
      </p:pic>
      <p:pic>
        <p:nvPicPr>
          <p:cNvPr id="38" name="Graphic 37" descr="Home with solid fill">
            <a:extLst>
              <a:ext uri="{FF2B5EF4-FFF2-40B4-BE49-F238E27FC236}">
                <a16:creationId xmlns:a16="http://schemas.microsoft.com/office/drawing/2014/main" id="{1E863255-2AA8-A006-02E2-5DF082A18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2794" y="1455763"/>
            <a:ext cx="914400" cy="914400"/>
          </a:xfrm>
          <a:prstGeom prst="rect">
            <a:avLst/>
          </a:prstGeom>
        </p:spPr>
      </p:pic>
      <p:pic>
        <p:nvPicPr>
          <p:cNvPr id="40" name="Graphic 39" descr="House with solid fill">
            <a:extLst>
              <a:ext uri="{FF2B5EF4-FFF2-40B4-BE49-F238E27FC236}">
                <a16:creationId xmlns:a16="http://schemas.microsoft.com/office/drawing/2014/main" id="{7B9D4FF5-3DB2-A290-7F9A-C8CEDA8723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1090" y="1455763"/>
            <a:ext cx="914400" cy="914400"/>
          </a:xfrm>
          <a:prstGeom prst="rect">
            <a:avLst/>
          </a:prstGeom>
        </p:spPr>
      </p:pic>
      <p:pic>
        <p:nvPicPr>
          <p:cNvPr id="42" name="Graphic 41" descr="Suburban scene with solid fill">
            <a:extLst>
              <a:ext uri="{FF2B5EF4-FFF2-40B4-BE49-F238E27FC236}">
                <a16:creationId xmlns:a16="http://schemas.microsoft.com/office/drawing/2014/main" id="{0B8A3B06-48A6-0578-EAF1-803847EBD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4498" y="1455763"/>
            <a:ext cx="914400" cy="914400"/>
          </a:xfrm>
          <a:prstGeom prst="rect">
            <a:avLst/>
          </a:prstGeom>
        </p:spPr>
      </p:pic>
      <p:pic>
        <p:nvPicPr>
          <p:cNvPr id="44" name="Graphic 43" descr="Checkmark with solid fill">
            <a:extLst>
              <a:ext uri="{FF2B5EF4-FFF2-40B4-BE49-F238E27FC236}">
                <a16:creationId xmlns:a16="http://schemas.microsoft.com/office/drawing/2014/main" id="{3B4E9A09-5D44-6598-6E74-C759D2D466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71008" y="1480185"/>
            <a:ext cx="455858" cy="455858"/>
          </a:xfrm>
          <a:prstGeom prst="rect">
            <a:avLst/>
          </a:prstGeom>
        </p:spPr>
      </p:pic>
      <p:pic>
        <p:nvPicPr>
          <p:cNvPr id="46" name="Graphic 45" descr="Close with solid fill">
            <a:extLst>
              <a:ext uri="{FF2B5EF4-FFF2-40B4-BE49-F238E27FC236}">
                <a16:creationId xmlns:a16="http://schemas.microsoft.com/office/drawing/2014/main" id="{95F9B170-9052-EB87-00E3-4AB98FCF85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60834" y="1455763"/>
            <a:ext cx="457200" cy="457200"/>
          </a:xfrm>
          <a:prstGeom prst="rect">
            <a:avLst/>
          </a:prstGeom>
        </p:spPr>
      </p:pic>
      <p:pic>
        <p:nvPicPr>
          <p:cNvPr id="47" name="Graphic 46" descr="Checkmark with solid fill">
            <a:extLst>
              <a:ext uri="{FF2B5EF4-FFF2-40B4-BE49-F238E27FC236}">
                <a16:creationId xmlns:a16="http://schemas.microsoft.com/office/drawing/2014/main" id="{75E5A4F2-785E-9DDA-D53A-0CCB35DBA1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15250" y="1478843"/>
            <a:ext cx="457200" cy="457200"/>
          </a:xfrm>
          <a:prstGeom prst="rect">
            <a:avLst/>
          </a:prstGeom>
        </p:spPr>
      </p:pic>
      <p:pic>
        <p:nvPicPr>
          <p:cNvPr id="51" name="Graphic 50" descr="Eye">
            <a:extLst>
              <a:ext uri="{FF2B5EF4-FFF2-40B4-BE49-F238E27FC236}">
                <a16:creationId xmlns:a16="http://schemas.microsoft.com/office/drawing/2014/main" id="{2608187D-95A6-BC35-E421-A0C96509A3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5745" y="2860616"/>
            <a:ext cx="914400" cy="914400"/>
          </a:xfrm>
          <a:prstGeom prst="rect">
            <a:avLst/>
          </a:prstGeom>
        </p:spPr>
      </p:pic>
      <p:pic>
        <p:nvPicPr>
          <p:cNvPr id="52" name="Graphic 51" descr="Earth globe Africa and Europe">
            <a:extLst>
              <a:ext uri="{FF2B5EF4-FFF2-40B4-BE49-F238E27FC236}">
                <a16:creationId xmlns:a16="http://schemas.microsoft.com/office/drawing/2014/main" id="{DA411EBD-BCC6-6CF1-84E5-B520BEF713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81284" y="4343349"/>
            <a:ext cx="746564" cy="746564"/>
          </a:xfrm>
          <a:prstGeom prst="rect">
            <a:avLst/>
          </a:prstGeom>
        </p:spPr>
      </p:pic>
      <p:pic>
        <p:nvPicPr>
          <p:cNvPr id="53" name="Graphic 52" descr="Open book">
            <a:extLst>
              <a:ext uri="{FF2B5EF4-FFF2-40B4-BE49-F238E27FC236}">
                <a16:creationId xmlns:a16="http://schemas.microsoft.com/office/drawing/2014/main" id="{3E40FD48-F54D-CE28-71AF-7A8840AD78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8737" y="5938363"/>
            <a:ext cx="801856" cy="80185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ABA8221-F909-2361-05B9-21FCCC97F845}"/>
              </a:ext>
            </a:extLst>
          </p:cNvPr>
          <p:cNvSpPr txBox="1"/>
          <p:nvPr/>
        </p:nvSpPr>
        <p:spPr>
          <a:xfrm>
            <a:off x="-253537" y="2773773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>
            <a:defPPr>
              <a:defRPr lang="en-US"/>
            </a:defPPr>
            <a:lvl1pPr algn="ctr">
              <a:defRPr sz="1400" b="1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E1E9B8-CF50-C822-FE10-D17EF68801FA}"/>
              </a:ext>
            </a:extLst>
          </p:cNvPr>
          <p:cNvSpPr txBox="1"/>
          <p:nvPr/>
        </p:nvSpPr>
        <p:spPr>
          <a:xfrm>
            <a:off x="-245084" y="4087820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>
            <a:defPPr>
              <a:defRPr lang="en-US"/>
            </a:defPPr>
            <a:lvl1pPr algn="ctr">
              <a:defRPr sz="1400" b="1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0CA948-9B4D-BE46-6716-A062B177625F}"/>
              </a:ext>
            </a:extLst>
          </p:cNvPr>
          <p:cNvSpPr txBox="1"/>
          <p:nvPr/>
        </p:nvSpPr>
        <p:spPr>
          <a:xfrm>
            <a:off x="-245084" y="5690049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26809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934A86C-2049-4F87-88A9-1393E5B4EFA3}"/>
              </a:ext>
            </a:extLst>
          </p:cNvPr>
          <p:cNvSpPr/>
          <p:nvPr/>
        </p:nvSpPr>
        <p:spPr>
          <a:xfrm rot="5400000">
            <a:off x="808525" y="4285843"/>
            <a:ext cx="990062" cy="299104"/>
          </a:xfrm>
          <a:prstGeom prst="triangle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31AD4-3338-426A-B4CB-556C11788A64}"/>
              </a:ext>
            </a:extLst>
          </p:cNvPr>
          <p:cNvSpPr/>
          <p:nvPr/>
        </p:nvSpPr>
        <p:spPr>
          <a:xfrm>
            <a:off x="0" y="-1"/>
            <a:ext cx="12192000" cy="695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nual Operation 5">
            <a:extLst>
              <a:ext uri="{FF2B5EF4-FFF2-40B4-BE49-F238E27FC236}">
                <a16:creationId xmlns:a16="http://schemas.microsoft.com/office/drawing/2014/main" id="{BA21484B-AB5F-4AB6-B525-066E8A334177}"/>
              </a:ext>
            </a:extLst>
          </p:cNvPr>
          <p:cNvSpPr/>
          <p:nvPr/>
        </p:nvSpPr>
        <p:spPr>
          <a:xfrm>
            <a:off x="2683839" y="-10596"/>
            <a:ext cx="6683022" cy="7138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818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185"/>
              <a:gd name="connsiteX1" fmla="*/ 10000 w 10000"/>
              <a:gd name="connsiteY1" fmla="*/ 0 h 10185"/>
              <a:gd name="connsiteX2" fmla="*/ 9132 w 10000"/>
              <a:gd name="connsiteY2" fmla="*/ 10185 h 10185"/>
              <a:gd name="connsiteX3" fmla="*/ 818 w 10000"/>
              <a:gd name="connsiteY3" fmla="*/ 10000 h 10185"/>
              <a:gd name="connsiteX4" fmla="*/ 0 w 10000"/>
              <a:gd name="connsiteY4" fmla="*/ 0 h 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185">
                <a:moveTo>
                  <a:pt x="0" y="0"/>
                </a:moveTo>
                <a:lnTo>
                  <a:pt x="10000" y="0"/>
                </a:lnTo>
                <a:cubicBezTo>
                  <a:pt x="9711" y="3395"/>
                  <a:pt x="9421" y="6790"/>
                  <a:pt x="9132" y="10185"/>
                </a:cubicBezTo>
                <a:lnTo>
                  <a:pt x="818" y="10000"/>
                </a:lnTo>
                <a:cubicBezTo>
                  <a:pt x="545" y="6667"/>
                  <a:pt x="273" y="3333"/>
                  <a:pt x="0" y="0"/>
                </a:cubicBezTo>
                <a:close/>
              </a:path>
            </a:pathLst>
          </a:cu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D334E-10D8-4844-9C59-6C8F1A218D5A}"/>
              </a:ext>
            </a:extLst>
          </p:cNvPr>
          <p:cNvSpPr txBox="1"/>
          <p:nvPr/>
        </p:nvSpPr>
        <p:spPr>
          <a:xfrm>
            <a:off x="3158927" y="-50033"/>
            <a:ext cx="5732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Management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4BC94F-BC99-4C8C-A534-38DD18202C9B}"/>
              </a:ext>
            </a:extLst>
          </p:cNvPr>
          <p:cNvSpPr/>
          <p:nvPr/>
        </p:nvSpPr>
        <p:spPr>
          <a:xfrm>
            <a:off x="90311" y="958273"/>
            <a:ext cx="1072444" cy="1141450"/>
          </a:xfrm>
          <a:prstGeom prst="roundRect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BBA42B-DADB-4CD1-867C-3EFF75FF0115}"/>
              </a:ext>
            </a:extLst>
          </p:cNvPr>
          <p:cNvSpPr/>
          <p:nvPr/>
        </p:nvSpPr>
        <p:spPr>
          <a:xfrm>
            <a:off x="90311" y="2220128"/>
            <a:ext cx="1072444" cy="1422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D5609A-D570-462E-8262-BD5B1E4EE880}"/>
              </a:ext>
            </a:extLst>
          </p:cNvPr>
          <p:cNvSpPr/>
          <p:nvPr/>
        </p:nvSpPr>
        <p:spPr>
          <a:xfrm>
            <a:off x="90311" y="3762933"/>
            <a:ext cx="1072444" cy="1422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57A548-1E88-4468-96D4-182FAF326887}"/>
              </a:ext>
            </a:extLst>
          </p:cNvPr>
          <p:cNvSpPr/>
          <p:nvPr/>
        </p:nvSpPr>
        <p:spPr>
          <a:xfrm>
            <a:off x="90311" y="5305738"/>
            <a:ext cx="1072444" cy="1422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0116A01-DDCF-4CA4-BC05-D8F5241849E7}"/>
              </a:ext>
            </a:extLst>
          </p:cNvPr>
          <p:cNvSpPr/>
          <p:nvPr/>
        </p:nvSpPr>
        <p:spPr>
          <a:xfrm>
            <a:off x="1698963" y="1388533"/>
            <a:ext cx="6033925" cy="52818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2FF78A-359D-48BB-8712-7FC7A6D8AB58}"/>
              </a:ext>
            </a:extLst>
          </p:cNvPr>
          <p:cNvSpPr txBox="1"/>
          <p:nvPr/>
        </p:nvSpPr>
        <p:spPr>
          <a:xfrm>
            <a:off x="-258280" y="108532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Real Estate</a:t>
            </a:r>
            <a:endParaRPr lang="en-US" sz="2800" b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A08E57-67CF-4153-83C0-14560561AFB7}"/>
              </a:ext>
            </a:extLst>
          </p:cNvPr>
          <p:cNvSpPr txBox="1"/>
          <p:nvPr/>
        </p:nvSpPr>
        <p:spPr>
          <a:xfrm>
            <a:off x="3104444" y="447198"/>
            <a:ext cx="2652889" cy="184666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/>
          <a:p>
            <a:r>
              <a:rPr lang="en-US" sz="1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values analysis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19A54C-3E44-4927-ABB0-627E220351F8}"/>
              </a:ext>
            </a:extLst>
          </p:cNvPr>
          <p:cNvSpPr txBox="1"/>
          <p:nvPr/>
        </p:nvSpPr>
        <p:spPr>
          <a:xfrm>
            <a:off x="-319781" y="2753697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>
            <a:defPPr>
              <a:defRPr lang="en-US"/>
            </a:defPPr>
            <a:lvl1pPr algn="ctr">
              <a:defRPr sz="1400" b="1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0" dirty="0"/>
              <a:t>Overview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6253A3-E07F-4463-A783-B75AE72173EE}"/>
              </a:ext>
            </a:extLst>
          </p:cNvPr>
          <p:cNvSpPr/>
          <p:nvPr/>
        </p:nvSpPr>
        <p:spPr>
          <a:xfrm>
            <a:off x="8142979" y="958272"/>
            <a:ext cx="3758347" cy="273005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7DF58AF-FEFF-4FA4-B7A1-388F6A1BA630}"/>
              </a:ext>
            </a:extLst>
          </p:cNvPr>
          <p:cNvSpPr/>
          <p:nvPr/>
        </p:nvSpPr>
        <p:spPr>
          <a:xfrm>
            <a:off x="8142979" y="3940364"/>
            <a:ext cx="3758347" cy="273005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City">
            <a:extLst>
              <a:ext uri="{FF2B5EF4-FFF2-40B4-BE49-F238E27FC236}">
                <a16:creationId xmlns:a16="http://schemas.microsoft.com/office/drawing/2014/main" id="{C5EF8B22-0492-4360-9596-5E21A8721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613" y="1040720"/>
            <a:ext cx="930464" cy="93046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05D62D-434B-4835-820F-71DF0E6F8839}"/>
              </a:ext>
            </a:extLst>
          </p:cNvPr>
          <p:cNvSpPr txBox="1"/>
          <p:nvPr/>
        </p:nvSpPr>
        <p:spPr>
          <a:xfrm>
            <a:off x="-311328" y="4067744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>
            <a:defPPr>
              <a:defRPr lang="en-US"/>
            </a:defPPr>
            <a:lvl1pPr algn="ctr">
              <a:defRPr sz="1400" b="1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Locations</a:t>
            </a:r>
          </a:p>
        </p:txBody>
      </p:sp>
      <p:pic>
        <p:nvPicPr>
          <p:cNvPr id="30" name="Graphic 29" descr="Eye">
            <a:extLst>
              <a:ext uri="{FF2B5EF4-FFF2-40B4-BE49-F238E27FC236}">
                <a16:creationId xmlns:a16="http://schemas.microsoft.com/office/drawing/2014/main" id="{28BCDDBB-78CD-45CD-901F-4D1ABA21A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613" y="2848533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94CA58-1C2C-4CF8-BEA0-EBB87A8D68D9}"/>
              </a:ext>
            </a:extLst>
          </p:cNvPr>
          <p:cNvSpPr txBox="1"/>
          <p:nvPr/>
        </p:nvSpPr>
        <p:spPr>
          <a:xfrm>
            <a:off x="-311328" y="5669973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pic>
        <p:nvPicPr>
          <p:cNvPr id="28" name="Graphic 27" descr="Earth globe Africa and Europe">
            <a:extLst>
              <a:ext uri="{FF2B5EF4-FFF2-40B4-BE49-F238E27FC236}">
                <a16:creationId xmlns:a16="http://schemas.microsoft.com/office/drawing/2014/main" id="{8BD26DDC-0EA4-4005-9B45-A2CA4027D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152" y="4331266"/>
            <a:ext cx="746564" cy="746564"/>
          </a:xfrm>
          <a:prstGeom prst="rect">
            <a:avLst/>
          </a:prstGeom>
        </p:spPr>
      </p:pic>
      <p:pic>
        <p:nvPicPr>
          <p:cNvPr id="40" name="Graphic 39" descr="Open book">
            <a:extLst>
              <a:ext uri="{FF2B5EF4-FFF2-40B4-BE49-F238E27FC236}">
                <a16:creationId xmlns:a16="http://schemas.microsoft.com/office/drawing/2014/main" id="{A8E4431B-E780-44F3-8887-44947C364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605" y="5926280"/>
            <a:ext cx="801856" cy="801856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2AAFDE-2014-4A4B-96A3-8F67A2DAC6BC}"/>
              </a:ext>
            </a:extLst>
          </p:cNvPr>
          <p:cNvSpPr/>
          <p:nvPr/>
        </p:nvSpPr>
        <p:spPr>
          <a:xfrm>
            <a:off x="1698095" y="972066"/>
            <a:ext cx="6033925" cy="306073"/>
          </a:xfrm>
          <a:prstGeom prst="roundRect">
            <a:avLst>
              <a:gd name="adj" fmla="val 0"/>
            </a:avLst>
          </a:pr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E5C030-199E-4D2F-ADF9-CC95D17041E6}"/>
              </a:ext>
            </a:extLst>
          </p:cNvPr>
          <p:cNvSpPr/>
          <p:nvPr/>
        </p:nvSpPr>
        <p:spPr>
          <a:xfrm>
            <a:off x="190373" y="234081"/>
            <a:ext cx="286005" cy="286005"/>
          </a:xfrm>
          <a:prstGeom prst="ellipse">
            <a:avLst/>
          </a:pr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9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934A86C-2049-4F87-88A9-1393E5B4EFA3}"/>
              </a:ext>
            </a:extLst>
          </p:cNvPr>
          <p:cNvSpPr/>
          <p:nvPr/>
        </p:nvSpPr>
        <p:spPr>
          <a:xfrm rot="5400000">
            <a:off x="808525" y="5877575"/>
            <a:ext cx="990062" cy="299104"/>
          </a:xfrm>
          <a:prstGeom prst="triangle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31AD4-3338-426A-B4CB-556C11788A64}"/>
              </a:ext>
            </a:extLst>
          </p:cNvPr>
          <p:cNvSpPr/>
          <p:nvPr/>
        </p:nvSpPr>
        <p:spPr>
          <a:xfrm>
            <a:off x="0" y="-1"/>
            <a:ext cx="12192000" cy="695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nual Operation 5">
            <a:extLst>
              <a:ext uri="{FF2B5EF4-FFF2-40B4-BE49-F238E27FC236}">
                <a16:creationId xmlns:a16="http://schemas.microsoft.com/office/drawing/2014/main" id="{BA21484B-AB5F-4AB6-B525-066E8A334177}"/>
              </a:ext>
            </a:extLst>
          </p:cNvPr>
          <p:cNvSpPr/>
          <p:nvPr/>
        </p:nvSpPr>
        <p:spPr>
          <a:xfrm>
            <a:off x="2683839" y="-10596"/>
            <a:ext cx="6683022" cy="7138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818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185"/>
              <a:gd name="connsiteX1" fmla="*/ 10000 w 10000"/>
              <a:gd name="connsiteY1" fmla="*/ 0 h 10185"/>
              <a:gd name="connsiteX2" fmla="*/ 9132 w 10000"/>
              <a:gd name="connsiteY2" fmla="*/ 10185 h 10185"/>
              <a:gd name="connsiteX3" fmla="*/ 818 w 10000"/>
              <a:gd name="connsiteY3" fmla="*/ 10000 h 10185"/>
              <a:gd name="connsiteX4" fmla="*/ 0 w 10000"/>
              <a:gd name="connsiteY4" fmla="*/ 0 h 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185">
                <a:moveTo>
                  <a:pt x="0" y="0"/>
                </a:moveTo>
                <a:lnTo>
                  <a:pt x="10000" y="0"/>
                </a:lnTo>
                <a:cubicBezTo>
                  <a:pt x="9711" y="3395"/>
                  <a:pt x="9421" y="6790"/>
                  <a:pt x="9132" y="10185"/>
                </a:cubicBezTo>
                <a:lnTo>
                  <a:pt x="818" y="10000"/>
                </a:lnTo>
                <a:cubicBezTo>
                  <a:pt x="545" y="6667"/>
                  <a:pt x="273" y="3333"/>
                  <a:pt x="0" y="0"/>
                </a:cubicBezTo>
                <a:close/>
              </a:path>
            </a:pathLst>
          </a:cu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4BC94F-BC99-4C8C-A534-38DD18202C9B}"/>
              </a:ext>
            </a:extLst>
          </p:cNvPr>
          <p:cNvSpPr/>
          <p:nvPr/>
        </p:nvSpPr>
        <p:spPr>
          <a:xfrm>
            <a:off x="90311" y="958273"/>
            <a:ext cx="1072444" cy="1141450"/>
          </a:xfrm>
          <a:prstGeom prst="roundRect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BBA42B-DADB-4CD1-867C-3EFF75FF0115}"/>
              </a:ext>
            </a:extLst>
          </p:cNvPr>
          <p:cNvSpPr/>
          <p:nvPr/>
        </p:nvSpPr>
        <p:spPr>
          <a:xfrm>
            <a:off x="90311" y="2220128"/>
            <a:ext cx="1072444" cy="1422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D5609A-D570-462E-8262-BD5B1E4EE880}"/>
              </a:ext>
            </a:extLst>
          </p:cNvPr>
          <p:cNvSpPr/>
          <p:nvPr/>
        </p:nvSpPr>
        <p:spPr>
          <a:xfrm>
            <a:off x="90311" y="3762933"/>
            <a:ext cx="1072444" cy="1422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57A548-1E88-4468-96D4-182FAF326887}"/>
              </a:ext>
            </a:extLst>
          </p:cNvPr>
          <p:cNvSpPr/>
          <p:nvPr/>
        </p:nvSpPr>
        <p:spPr>
          <a:xfrm>
            <a:off x="90311" y="5294449"/>
            <a:ext cx="1072444" cy="1422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0116A01-DDCF-4CA4-BC05-D8F5241849E7}"/>
              </a:ext>
            </a:extLst>
          </p:cNvPr>
          <p:cNvSpPr/>
          <p:nvPr/>
        </p:nvSpPr>
        <p:spPr>
          <a:xfrm>
            <a:off x="3008387" y="1399823"/>
            <a:ext cx="6033925" cy="2525727"/>
          </a:xfrm>
          <a:prstGeom prst="roundRect">
            <a:avLst>
              <a:gd name="adj" fmla="val 0"/>
            </a:avLst>
          </a:prstGeom>
          <a:solidFill>
            <a:srgbClr val="006082">
              <a:alpha val="73000"/>
            </a:srgbClr>
          </a:solidFill>
          <a:ln>
            <a:noFill/>
          </a:ln>
          <a:effectLst>
            <a:outerShdw blurRad="50800" dist="38100" dir="16200000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19A54C-3E44-4927-ABB0-627E220351F8}"/>
              </a:ext>
            </a:extLst>
          </p:cNvPr>
          <p:cNvSpPr txBox="1"/>
          <p:nvPr/>
        </p:nvSpPr>
        <p:spPr>
          <a:xfrm>
            <a:off x="-319781" y="2753697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>
            <a:defPPr>
              <a:defRPr lang="en-US"/>
            </a:defPPr>
            <a:lvl1pPr algn="ctr">
              <a:defRPr sz="1400" b="1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0" dirty="0"/>
              <a:t>Overview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135BD6-8F67-4E8C-BAFE-87E13AA24962}"/>
              </a:ext>
            </a:extLst>
          </p:cNvPr>
          <p:cNvSpPr txBox="1"/>
          <p:nvPr/>
        </p:nvSpPr>
        <p:spPr>
          <a:xfrm>
            <a:off x="-311328" y="5669973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pic>
        <p:nvPicPr>
          <p:cNvPr id="23" name="Graphic 22" descr="City">
            <a:extLst>
              <a:ext uri="{FF2B5EF4-FFF2-40B4-BE49-F238E27FC236}">
                <a16:creationId xmlns:a16="http://schemas.microsoft.com/office/drawing/2014/main" id="{C5EF8B22-0492-4360-9596-5E21A8721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613" y="1040720"/>
            <a:ext cx="930464" cy="93046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05D62D-434B-4835-820F-71DF0E6F8839}"/>
              </a:ext>
            </a:extLst>
          </p:cNvPr>
          <p:cNvSpPr txBox="1"/>
          <p:nvPr/>
        </p:nvSpPr>
        <p:spPr>
          <a:xfrm>
            <a:off x="-311328" y="4067744"/>
            <a:ext cx="1608653" cy="215444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>
            <a:defPPr>
              <a:defRPr lang="en-US"/>
            </a:defPPr>
            <a:lvl1pPr algn="ctr">
              <a:defRPr sz="1400" b="1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0" dirty="0"/>
              <a:t>Locations</a:t>
            </a:r>
          </a:p>
        </p:txBody>
      </p:sp>
      <p:pic>
        <p:nvPicPr>
          <p:cNvPr id="30" name="Graphic 29" descr="Eye">
            <a:extLst>
              <a:ext uri="{FF2B5EF4-FFF2-40B4-BE49-F238E27FC236}">
                <a16:creationId xmlns:a16="http://schemas.microsoft.com/office/drawing/2014/main" id="{28BCDDBB-78CD-45CD-901F-4D1ABA21A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613" y="2848533"/>
            <a:ext cx="914400" cy="9144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5C2AEAA-5EA1-4624-83AD-FB1AD78EE2B2}"/>
              </a:ext>
            </a:extLst>
          </p:cNvPr>
          <p:cNvSpPr/>
          <p:nvPr/>
        </p:nvSpPr>
        <p:spPr>
          <a:xfrm>
            <a:off x="3008387" y="985843"/>
            <a:ext cx="6033924" cy="278520"/>
          </a:xfrm>
          <a:prstGeom prst="roundRect">
            <a:avLst>
              <a:gd name="adj" fmla="val 0"/>
            </a:avLst>
          </a:pr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271B97D-1D47-46A0-B7CD-6A01763E39FF}"/>
              </a:ext>
            </a:extLst>
          </p:cNvPr>
          <p:cNvSpPr/>
          <p:nvPr/>
        </p:nvSpPr>
        <p:spPr>
          <a:xfrm>
            <a:off x="3006793" y="3925550"/>
            <a:ext cx="6033925" cy="2791299"/>
          </a:xfrm>
          <a:prstGeom prst="roundRect">
            <a:avLst>
              <a:gd name="adj" fmla="val 0"/>
            </a:avLst>
          </a:prstGeom>
          <a:solidFill>
            <a:srgbClr val="006082">
              <a:alpha val="7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Graphic 35" descr="Earth globe Africa and Europe">
            <a:extLst>
              <a:ext uri="{FF2B5EF4-FFF2-40B4-BE49-F238E27FC236}">
                <a16:creationId xmlns:a16="http://schemas.microsoft.com/office/drawing/2014/main" id="{D58DD553-3FA4-48AD-BF5E-A33EC9195C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152" y="4331266"/>
            <a:ext cx="746564" cy="746564"/>
          </a:xfrm>
          <a:prstGeom prst="rect">
            <a:avLst/>
          </a:prstGeom>
        </p:spPr>
      </p:pic>
      <p:pic>
        <p:nvPicPr>
          <p:cNvPr id="38" name="Graphic 37" descr="Open book">
            <a:extLst>
              <a:ext uri="{FF2B5EF4-FFF2-40B4-BE49-F238E27FC236}">
                <a16:creationId xmlns:a16="http://schemas.microsoft.com/office/drawing/2014/main" id="{5A134C58-37F8-4CAD-9810-F1372C5A5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605" y="5926280"/>
            <a:ext cx="801856" cy="8018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4ADCBAA-C7D7-437B-9338-3F2B023A858B}"/>
              </a:ext>
            </a:extLst>
          </p:cNvPr>
          <p:cNvSpPr txBox="1"/>
          <p:nvPr/>
        </p:nvSpPr>
        <p:spPr>
          <a:xfrm>
            <a:off x="3169420" y="-50033"/>
            <a:ext cx="5711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Management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82AA64-4340-4DA3-8030-AABC45805D4C}"/>
              </a:ext>
            </a:extLst>
          </p:cNvPr>
          <p:cNvSpPr txBox="1"/>
          <p:nvPr/>
        </p:nvSpPr>
        <p:spPr>
          <a:xfrm>
            <a:off x="-258280" y="108532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Real Estate</a:t>
            </a:r>
            <a:endParaRPr lang="en-US" sz="2800" b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3D096A-A534-49B7-AD9D-FA38D2CBC954}"/>
              </a:ext>
            </a:extLst>
          </p:cNvPr>
          <p:cNvSpPr txBox="1"/>
          <p:nvPr/>
        </p:nvSpPr>
        <p:spPr>
          <a:xfrm>
            <a:off x="3104444" y="447198"/>
            <a:ext cx="2652889" cy="184666"/>
          </a:xfrm>
          <a:prstGeom prst="rect">
            <a:avLst/>
          </a:prstGeom>
          <a:noFill/>
        </p:spPr>
        <p:txBody>
          <a:bodyPr wrap="square" lIns="457200" tIns="0" rIns="182880" bIns="0" rtlCol="0">
            <a:spAutoFit/>
          </a:bodyPr>
          <a:lstStyle/>
          <a:p>
            <a:r>
              <a:rPr lang="en-US" sz="1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values analysis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C2038F-09E0-44BA-88AB-7AC475C76F8C}"/>
              </a:ext>
            </a:extLst>
          </p:cNvPr>
          <p:cNvSpPr/>
          <p:nvPr/>
        </p:nvSpPr>
        <p:spPr>
          <a:xfrm>
            <a:off x="190373" y="234081"/>
            <a:ext cx="286005" cy="286005"/>
          </a:xfrm>
          <a:prstGeom prst="ellipse">
            <a:avLst/>
          </a:prstGeom>
          <a:solidFill>
            <a:srgbClr val="F9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72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33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Bahnschrift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Akash Hossain</dc:creator>
  <cp:lastModifiedBy>MD Akash Hossain</cp:lastModifiedBy>
  <cp:revision>9</cp:revision>
  <dcterms:created xsi:type="dcterms:W3CDTF">2025-10-30T21:30:55Z</dcterms:created>
  <dcterms:modified xsi:type="dcterms:W3CDTF">2025-11-01T18:38:35Z</dcterms:modified>
</cp:coreProperties>
</file>